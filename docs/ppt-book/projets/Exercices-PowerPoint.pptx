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تمارين" id="{fd823f4c-b283-7601-4ea0-dbf813fc2cdd}">
          <p14:sldIdLst>
            <p14:sldId id="256"/>
            <p14:sldId id="257"/>
            <p14:sldId id="258"/>
            <p14:sldId id="259"/>
            <p14:sldId id="260"/>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solidFill>
          <a:srgbClr val="5A1A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280160"/>
          </a:xfrm>
          <a:prstGeom prst="rect">
            <a:avLst/>
          </a:prstGeom>
          <a:noFill/>
          <a:ln/>
        </p:spPr>
        <p:txBody>
          <a:bodyPr wrap="square" rtlCol="0"/>
          <a:lstStyle>
            <a:lvl1pPr rtl="1" algn="r" indent="0" marL="0">
              <a:buNone/>
              <a:defRPr lang="en-US" sz="4000" b="1" dirty="0">
                <a:solidFill>
                  <a:schemeClr val="bg1"/>
                </a:solidFill>
              </a:defRPr>
            </a:lvl1pPr>
          </a:lstStyle>
          <a:p>
            <a:pPr algn="r" indent="0" marL="0">
              <a:buNone/>
            </a:pPr>
            <a:r>
              <a:rPr lang="en-US" sz="4000" b="1" dirty="0">
                <a:solidFill>
                  <a:schemeClr val="bg1"/>
                </a:solidFill>
              </a:rPr>
              <a:t>Titre</a:t>
            </a:r>
            <a:endParaRPr lang="en-US" sz="4000" dirty="0"/>
          </a:p>
        </p:txBody>
      </p:sp>
      <p:sp>
        <p:nvSpPr>
          <p:cNvPr id="3" name="Text 0"/>
          <p:cNvSpPr/>
          <p:nvPr>
            <p:ph idx="101" type="body" hasCustomPrompt="1"/>
          </p:nvPr>
        </p:nvSpPr>
        <p:spPr>
          <a:xfrm>
            <a:off x="548640" y="2788920"/>
            <a:ext cx="8046720" cy="822960"/>
          </a:xfrm>
          <a:prstGeom prst="rect">
            <a:avLst/>
          </a:prstGeom>
          <a:noFill/>
          <a:ln/>
        </p:spPr>
        <p:txBody>
          <a:bodyPr wrap="square" rtlCol="0"/>
          <a:lstStyle>
            <a:lvl1pPr rtl="1" algn="r" indent="0" marL="0">
              <a:buNone/>
              <a:defRPr lang="en-US" sz="2000" dirty="0">
                <a:solidFill>
                  <a:schemeClr val="accent2"/>
                </a:solidFill>
              </a:defRPr>
            </a:lvl1pPr>
          </a:lstStyle>
          <a:p>
            <a:pPr algn="r" indent="0" marL="0">
              <a:buNone/>
            </a:pPr>
            <a:r>
              <a:rPr lang="en-US" sz="2000" dirty="0">
                <a:solidFill>
                  <a:schemeClr val="accent2"/>
                </a:solidFill>
              </a:rPr>
              <a:t>Sous-titre</a:t>
            </a:r>
            <a:endParaRPr lang="en-US" sz="2000" dirty="0"/>
          </a:p>
        </p:txBody>
      </p:sp>
      <p:sp>
        <p:nvSpPr>
          <p:cNvPr id="4" name="Text 0"/>
          <p:cNvSpPr/>
          <p:nvPr/>
        </p:nvSpPr>
        <p:spPr>
          <a:xfrm>
            <a:off x="548640" y="4617720"/>
            <a:ext cx="8046720" cy="274320"/>
          </a:xfrm>
          <a:prstGeom prst="rect">
            <a:avLst/>
          </a:prstGeom>
          <a:noFill/>
          <a:ln/>
        </p:spPr>
        <p:txBody>
          <a:bodyPr wrap="square" rtlCol="0" anchor="ctr"/>
          <a:lstStyle/>
          <a:p>
            <a:pPr algn="r" indent="0" marL="0">
              <a:buNone/>
            </a:pPr>
            <a:r>
              <a:rPr lang="en-US" sz="1000" dirty="0">
                <a:solidFill>
                  <a:schemeClr val="bg2"/>
                </a:solidFill>
              </a:rPr>
              <a:t>Nourix Academy · تمارين PowerPoint</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C43E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rtl="1" algn="r" indent="0" marL="0">
              <a:buNone/>
              <a:defRPr lang="en-US" sz="3600" b="1" dirty="0">
                <a:solidFill>
                  <a:schemeClr val="bg1"/>
                </a:solidFill>
              </a:defRPr>
            </a:lvl1pPr>
          </a:lstStyle>
          <a:p>
            <a:pPr algn="r" indent="0" marL="0">
              <a:buNone/>
            </a:pPr>
            <a:r>
              <a:rPr lang="en-US" sz="3600" b="1" dirty="0">
                <a:solidFill>
                  <a:schemeClr val="bg1"/>
                </a:solidFill>
              </a:rPr>
              <a:t>Section</a:t>
            </a:r>
            <a:endParaRPr lang="en-US" sz="3600" dirty="0"/>
          </a:p>
        </p:txBody>
      </p:sp>
      <p:sp>
        <p:nvSpPr>
          <p:cNvPr id="3" name="Text 0"/>
          <p:cNvSpPr/>
          <p:nvPr>
            <p:ph idx="101" type="body" hasCustomPrompt="1"/>
          </p:nvPr>
        </p:nvSpPr>
        <p:spPr>
          <a:xfrm>
            <a:off x="548640" y="2880360"/>
            <a:ext cx="8046720" cy="548640"/>
          </a:xfrm>
          <a:prstGeom prst="rect">
            <a:avLst/>
          </a:prstGeom>
          <a:noFill/>
          <a:ln/>
        </p:spPr>
        <p:txBody>
          <a:bodyPr wrap="square" rtlCol="0"/>
          <a:lstStyle>
            <a:lvl1pPr rtl="1" algn="r" indent="0" marL="0">
              <a:buNone/>
              <a:defRPr lang="en-US" sz="1800" dirty="0">
                <a:solidFill>
                  <a:schemeClr val="bg1"/>
                </a:solidFill>
              </a:defRPr>
            </a:lvl1pPr>
          </a:lstStyle>
          <a:p>
            <a:pPr algn="r"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rtl="1" algn="r" indent="0" marL="0">
              <a:buNone/>
              <a:defRPr lang="en-US" sz="3000" b="1" dirty="0">
                <a:solidFill>
                  <a:schemeClr val="tx2"/>
                </a:solidFill>
              </a:defRPr>
            </a:lvl1pPr>
          </a:lstStyle>
          <a:p>
            <a:pPr algn="r" indent="0" marL="0">
              <a:buNone/>
            </a:pPr>
            <a:r>
              <a:rPr lang="en-US" sz="3000" b="1" dirty="0">
                <a:solidFill>
                  <a:schemeClr val="tx2"/>
                </a:solidFill>
              </a:rPr>
              <a:t>Titre</a:t>
            </a:r>
            <a:endParaRPr lang="en-US" sz="3000" dirty="0"/>
          </a:p>
        </p:txBody>
      </p:sp>
      <p:sp>
        <p:nvSpPr>
          <p:cNvPr id="3" name="Text 0"/>
          <p:cNvSpPr/>
          <p:nvPr/>
        </p:nvSpPr>
        <p:spPr>
          <a:xfrm>
            <a:off x="3200400" y="4754880"/>
            <a:ext cx="5486400" cy="274320"/>
          </a:xfrm>
          <a:prstGeom prst="rect">
            <a:avLst/>
          </a:prstGeom>
          <a:noFill/>
          <a:ln/>
        </p:spPr>
        <p:txBody>
          <a:bodyPr wrap="square" rtlCol="0" anchor="ctr"/>
          <a:lstStyle/>
          <a:p>
            <a:pPr algn="r" indent="0" marL="0">
              <a:buNone/>
            </a:pPr>
            <a:r>
              <a:rPr lang="en-US" sz="1000" dirty="0">
                <a:solidFill>
                  <a:srgbClr val="7F7F7F"/>
                </a:solidFill>
              </a:rPr>
              <a:t>Nourix Academy · تمارين PowerPoint</a:t>
            </a:r>
            <a:endParaRPr lang="en-US" sz="1000" dirty="0"/>
          </a:p>
        </p:txBody>
      </p:sp>
      <p:sp>
        <p:nvSpPr>
          <p:cNvPr id="25" name="Slide Number Placeholder 0"/>
          <p:cNvSpPr>
            <a:spLocks noGrp="1"/>
          </p:cNvSpPr>
          <p:nvPr>
            <p:ph type="sldNum" sz="quarter" idx="4294967295"/>
          </p:nvPr>
        </p:nvSpPr>
        <p:spPr>
          <a:xfrm>
            <a:off x="457200" y="47548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47548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280160"/>
          </a:xfrm>
          <a:prstGeom prst="rect">
            <a:avLst/>
          </a:prstGeom>
          <a:noFill/>
          <a:ln/>
        </p:spPr>
        <p:txBody>
          <a:bodyPr wrap="square" rtlCol="0" anchor="b"/>
          <a:lstStyle/>
          <a:p>
            <a:pPr rtl="1" algn="r" indent="0" marL="0">
              <a:buNone/>
            </a:pPr>
            <a:r>
              <a:rPr lang="en-US" sz="4000" b="1" dirty="0">
                <a:solidFill>
                  <a:schemeClr val="bg1"/>
                </a:solidFill>
              </a:rPr>
              <a:t>تمارين PowerPoint</a:t>
            </a:r>
            <a:endParaRPr lang="en-US" sz="4000" dirty="0"/>
          </a:p>
        </p:txBody>
      </p:sp>
      <p:sp>
        <p:nvSpPr>
          <p:cNvPr id="3" name="Text 0"/>
          <p:cNvSpPr/>
          <p:nvPr>
            <p:ph idx="101" type="body" hasCustomPrompt="1"/>
          </p:nvPr>
        </p:nvSpPr>
        <p:spPr>
          <a:xfrm>
            <a:off x="548640" y="2788920"/>
            <a:ext cx="8046720" cy="822960"/>
          </a:xfrm>
          <a:prstGeom prst="rect">
            <a:avLst/>
          </a:prstGeom>
          <a:noFill/>
          <a:ln/>
        </p:spPr>
        <p:txBody>
          <a:bodyPr wrap="square" rtlCol="0" anchor="t"/>
          <a:lstStyle/>
          <a:p>
            <a:pPr rtl="1" algn="r" indent="0" marL="0">
              <a:buNone/>
            </a:pPr>
            <a:r>
              <a:rPr lang="en-US" sz="2000" dirty="0">
                <a:solidFill>
                  <a:schemeClr val="accent2"/>
                </a:solidFill>
              </a:rPr>
              <a:t>تمرين لكل فصل تطبيقي من الفصول 3 إلى 11</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p>
            <a:pPr rtl="1" algn="r" indent="0" marL="0">
              <a:buNone/>
            </a:pPr>
            <a:r>
              <a:rPr lang="en-US" sz="3000" b="1" dirty="0">
                <a:solidFill>
                  <a:schemeClr val="tx2"/>
                </a:solidFill>
              </a:rPr>
              <a:t>تمرين الفصل 3: من فقرة إلى نقاط</a:t>
            </a:r>
            <a:endParaRPr lang="en-US" sz="3000" dirty="0"/>
          </a:p>
        </p:txBody>
      </p:sp>
      <p:sp>
        <p:nvSpPr>
          <p:cNvPr id="3" name="Text 1"/>
          <p:cNvSpPr txBox="1"/>
          <p:nvPr/>
        </p:nvSpPr>
        <p:spPr>
          <a:xfrm>
            <a:off x="457200" y="1188720"/>
            <a:ext cx="8229600" cy="2286000"/>
          </a:xfrm>
          <a:prstGeom prst="rect">
            <a:avLst/>
          </a:prstGeom>
          <a:noFill/>
          <a:ln/>
        </p:spPr>
        <p:txBody>
          <a:bodyPr wrap="square" rtlCol="0" anchor="ctr"/>
          <a:lstStyle/>
          <a:p>
            <a:pPr rtl="1" algn="r" indent="0" marL="0">
              <a:buNone/>
            </a:pPr>
            <a:r>
              <a:rPr lang="en-US" sz="1600" dirty="0">
                <a:solidFill>
                  <a:schemeClr val="tx1"/>
                </a:solidFill>
              </a:rPr>
              <a:t>لكي يكون العرض ناجحاً يجب أن تحدد هدفك أولاً ثم أن تكتب فكرة واحدة في كل شريحة وأن تستعمل صوراً واضحة وأن تتدرب على العرض قبل يوم التقديم.</a:t>
            </a:r>
            <a:endParaRPr lang="en-US" sz="1600" dirty="0"/>
          </a:p>
        </p:txBody>
      </p:sp>
      <p:sp>
        <p:nvSpPr>
          <p:cNvPr id="4" name="Text 2"/>
          <p:cNvSpPr txBox="1"/>
          <p:nvPr/>
        </p:nvSpPr>
        <p:spPr>
          <a:xfrm>
            <a:off x="457200" y="4069080"/>
            <a:ext cx="8229600" cy="594360"/>
          </a:xfrm>
          <a:prstGeom prst="rect">
            <a:avLst/>
          </a:prstGeom>
          <a:noFill/>
          <a:ln/>
        </p:spPr>
        <p:txBody>
          <a:bodyPr wrap="square" rtlCol="0" anchor="ctr"/>
          <a:lstStyle/>
          <a:p>
            <a:pPr rtl="1" algn="r" indent="0" marL="0">
              <a:buNone/>
            </a:pPr>
            <a:r>
              <a:rPr lang="en-US" sz="1200" i="1" dirty="0">
                <a:solidFill>
                  <a:srgbClr val="595959"/>
                </a:solidFill>
              </a:rPr>
              <a:t>المطلوب: حوّل الفقرة إلى 4 نقاط قصيرة بحجم 24 على الأقل (Accueil ثم Puces).</a:t>
            </a:r>
            <a:endParaRPr lang="en-US" sz="1200" dirty="0"/>
          </a:p>
        </p:txBody>
      </p:sp>
      <p:sp>
        <p:nvSpPr>
          <p:cNvPr id="25" name="Slide Number Placeholder 0"/>
          <p:cNvSpPr>
            <a:spLocks noGrp="1"/>
          </p:cNvSpPr>
          <p:nvPr>
            <p:ph type="sldNum" sz="quarter" idx="4294967295"/>
          </p:nvPr>
        </p:nvSpPr>
        <p:spPr>
          <a:xfrm>
            <a:off x="457200" y="47548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p>
            <a:pPr rtl="1" algn="r" indent="0" marL="0">
              <a:buNone/>
            </a:pPr>
            <a:r>
              <a:rPr lang="en-US" sz="3000" b="1" dirty="0">
                <a:solidFill>
                  <a:schemeClr val="tx2"/>
                </a:solidFill>
              </a:rPr>
              <a:t>تمرين الفصل 5: محاذاة الأشكال وتجميعها</a:t>
            </a:r>
            <a:endParaRPr lang="en-US" sz="3000" dirty="0"/>
          </a:p>
        </p:txBody>
      </p:sp>
      <p:sp>
        <p:nvSpPr>
          <p:cNvPr id="3" name="Text 1"/>
          <p:cNvSpPr txBox="1"/>
          <p:nvPr/>
        </p:nvSpPr>
        <p:spPr>
          <a:xfrm>
            <a:off x="640080" y="1188720"/>
            <a:ext cx="1371600" cy="1371600"/>
          </a:xfrm>
          <a:prstGeom prst="ellipse">
            <a:avLst/>
          </a:prstGeom>
          <a:solidFill>
            <a:schemeClr val="accent1"/>
          </a:solidFill>
          <a:ln/>
        </p:spPr>
        <p:txBody>
          <a:bodyPr wrap="square" rtlCol="0" anchor="ctr"/>
          <a:lstStyle/>
          <a:p>
            <a:pPr algn="ctr" indent="0" marL="0">
              <a:buNone/>
            </a:pPr>
            <a:r>
              <a:rPr lang="en-US" sz="2800" b="1" dirty="0">
                <a:solidFill>
                  <a:schemeClr val="bg1"/>
                </a:solidFill>
              </a:rPr>
              <a:t>1</a:t>
            </a:r>
            <a:endParaRPr lang="en-US" sz="2800" dirty="0"/>
          </a:p>
        </p:txBody>
      </p:sp>
      <p:sp>
        <p:nvSpPr>
          <p:cNvPr id="4" name="Text 2"/>
          <p:cNvSpPr txBox="1"/>
          <p:nvPr/>
        </p:nvSpPr>
        <p:spPr>
          <a:xfrm>
            <a:off x="3017520" y="2103120"/>
            <a:ext cx="1371600" cy="1371600"/>
          </a:xfrm>
          <a:prstGeom prst="ellipse">
            <a:avLst/>
          </a:prstGeom>
          <a:solidFill>
            <a:schemeClr val="accent2"/>
          </a:solidFill>
          <a:ln/>
        </p:spPr>
        <p:txBody>
          <a:bodyPr wrap="square" rtlCol="0" anchor="ctr"/>
          <a:lstStyle/>
          <a:p>
            <a:pPr algn="ctr" indent="0" marL="0">
              <a:buNone/>
            </a:pPr>
            <a:r>
              <a:rPr lang="en-US" sz="2800" b="1" dirty="0">
                <a:solidFill>
                  <a:schemeClr val="bg1"/>
                </a:solidFill>
              </a:rPr>
              <a:t>2</a:t>
            </a:r>
            <a:endParaRPr lang="en-US" sz="2800" dirty="0"/>
          </a:p>
        </p:txBody>
      </p:sp>
      <p:sp>
        <p:nvSpPr>
          <p:cNvPr id="5" name="Text 3"/>
          <p:cNvSpPr txBox="1"/>
          <p:nvPr/>
        </p:nvSpPr>
        <p:spPr>
          <a:xfrm>
            <a:off x="4663440" y="1371600"/>
            <a:ext cx="1371600" cy="1371600"/>
          </a:xfrm>
          <a:prstGeom prst="ellipse">
            <a:avLst/>
          </a:prstGeom>
          <a:solidFill>
            <a:schemeClr val="accent3"/>
          </a:solidFill>
          <a:ln/>
        </p:spPr>
        <p:txBody>
          <a:bodyPr wrap="square" rtlCol="0" anchor="ctr"/>
          <a:lstStyle/>
          <a:p>
            <a:pPr algn="ctr" indent="0" marL="0">
              <a:buNone/>
            </a:pPr>
            <a:r>
              <a:rPr lang="en-US" sz="2800" b="1" dirty="0">
                <a:solidFill>
                  <a:schemeClr val="bg1"/>
                </a:solidFill>
              </a:rPr>
              <a:t>3</a:t>
            </a:r>
            <a:endParaRPr lang="en-US" sz="2800" dirty="0"/>
          </a:p>
        </p:txBody>
      </p:sp>
      <p:sp>
        <p:nvSpPr>
          <p:cNvPr id="6" name="Text 4"/>
          <p:cNvSpPr txBox="1"/>
          <p:nvPr/>
        </p:nvSpPr>
        <p:spPr>
          <a:xfrm>
            <a:off x="7223760" y="2377440"/>
            <a:ext cx="1371600" cy="1371600"/>
          </a:xfrm>
          <a:prstGeom prst="ellipse">
            <a:avLst/>
          </a:prstGeom>
          <a:solidFill>
            <a:schemeClr val="accent4"/>
          </a:solidFill>
          <a:ln/>
        </p:spPr>
        <p:txBody>
          <a:bodyPr wrap="square" rtlCol="0" anchor="ctr"/>
          <a:lstStyle/>
          <a:p>
            <a:pPr algn="ctr" indent="0" marL="0">
              <a:buNone/>
            </a:pPr>
            <a:r>
              <a:rPr lang="en-US" sz="2800" b="1" dirty="0">
                <a:solidFill>
                  <a:schemeClr val="bg1"/>
                </a:solidFill>
              </a:rPr>
              <a:t>4</a:t>
            </a:r>
            <a:endParaRPr lang="en-US" sz="2800" dirty="0"/>
          </a:p>
        </p:txBody>
      </p:sp>
      <p:sp>
        <p:nvSpPr>
          <p:cNvPr id="7" name="Text 5"/>
          <p:cNvSpPr txBox="1"/>
          <p:nvPr/>
        </p:nvSpPr>
        <p:spPr>
          <a:xfrm>
            <a:off x="457200" y="4069080"/>
            <a:ext cx="8229600" cy="594360"/>
          </a:xfrm>
          <a:prstGeom prst="rect">
            <a:avLst/>
          </a:prstGeom>
          <a:noFill/>
          <a:ln/>
        </p:spPr>
        <p:txBody>
          <a:bodyPr wrap="square" rtlCol="0" anchor="ctr"/>
          <a:lstStyle/>
          <a:p>
            <a:pPr rtl="1" algn="r" indent="0" marL="0">
              <a:buNone/>
            </a:pPr>
            <a:r>
              <a:rPr lang="en-US" sz="1200" i="1" dirty="0">
                <a:solidFill>
                  <a:srgbClr val="595959"/>
                </a:solidFill>
              </a:rPr>
              <a:t>المطلوب: حدّد الدوائر الأربع، ثم Format de la forme ثم Aligner ثم Aligner en haut، ثم Distribuer horizontalement، ثم Grouper.</a:t>
            </a:r>
            <a:endParaRPr lang="en-US" sz="1200" dirty="0"/>
          </a:p>
        </p:txBody>
      </p:sp>
      <p:sp>
        <p:nvSpPr>
          <p:cNvPr id="25" name="Slide Number Placeholder 0"/>
          <p:cNvSpPr>
            <a:spLocks noGrp="1"/>
          </p:cNvSpPr>
          <p:nvPr>
            <p:ph type="sldNum" sz="quarter" idx="4294967295"/>
          </p:nvPr>
        </p:nvSpPr>
        <p:spPr>
          <a:xfrm>
            <a:off x="457200" y="47548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p>
            <a:pPr rtl="1" algn="r" indent="0" marL="0">
              <a:buNone/>
            </a:pPr>
            <a:r>
              <a:rPr lang="en-US" sz="3000" b="1" dirty="0">
                <a:solidFill>
                  <a:schemeClr val="tx2"/>
                </a:solidFill>
              </a:rPr>
              <a:t>تمرين الفصل 6: من قائمة إلى مخطط</a:t>
            </a:r>
            <a:endParaRPr lang="en-US" sz="3000" dirty="0"/>
          </a:p>
        </p:txBody>
      </p:sp>
      <p:sp>
        <p:nvSpPr>
          <p:cNvPr id="3" name="Text 1"/>
          <p:cNvSpPr txBox="1"/>
          <p:nvPr/>
        </p:nvSpPr>
        <p:spPr>
          <a:xfrm>
            <a:off x="457200" y="1188720"/>
            <a:ext cx="8229600" cy="2286000"/>
          </a:xfrm>
          <a:prstGeom prst="rect">
            <a:avLst/>
          </a:prstGeom>
          <a:noFill/>
          <a:ln/>
        </p:spPr>
        <p:txBody>
          <a:bodyPr wrap="square" rtlCol="0" anchor="ctr"/>
          <a:lstStyle/>
          <a:p>
            <a:pPr algn="r" marL="342900" indent="-342900">
              <a:buSzPct val="100000"/>
              <a:buFont typeface="+mj-lt"/>
              <a:buAutoNum type="arabicPeriod" startAt="1"/>
            </a:pPr>
            <a:r>
              <a:rPr lang="en-US" sz="2000" dirty="0">
                <a:solidFill>
                  <a:schemeClr val="tx1"/>
                </a:solidFill>
              </a:rPr>
              <a:t>التخطيط</a:t>
            </a:r>
            <a:endParaRPr lang="en-US" sz="2000" dirty="0"/>
          </a:p>
          <a:p>
            <a:pPr algn="r" marL="342900" indent="-342900">
              <a:buSzPct val="100000"/>
              <a:buFont typeface="+mj-lt"/>
              <a:buAutoNum type="arabicPeriod" startAt="1"/>
            </a:pPr>
            <a:r>
              <a:rPr lang="en-US" sz="2000" dirty="0">
                <a:solidFill>
                  <a:schemeClr val="tx1"/>
                </a:solidFill>
              </a:rPr>
              <a:t>التصميم</a:t>
            </a:r>
            <a:endParaRPr lang="en-US" sz="2000" dirty="0"/>
          </a:p>
          <a:p>
            <a:pPr algn="r" marL="342900" indent="-342900">
              <a:buSzPct val="100000"/>
              <a:buFont typeface="+mj-lt"/>
              <a:buAutoNum type="arabicPeriod" startAt="1"/>
            </a:pPr>
            <a:r>
              <a:rPr lang="en-US" sz="2000" dirty="0">
                <a:solidFill>
                  <a:schemeClr val="tx1"/>
                </a:solidFill>
              </a:rPr>
              <a:t>التدريب</a:t>
            </a:r>
            <a:endParaRPr lang="en-US" sz="2000" dirty="0"/>
          </a:p>
          <a:p>
            <a:pPr algn="r" marL="342900" indent="-342900">
              <a:buSzPct val="100000"/>
              <a:buFont typeface="+mj-lt"/>
              <a:buAutoNum type="arabicPeriod" startAt="1"/>
            </a:pPr>
            <a:r>
              <a:rPr lang="en-US" sz="2000" dirty="0">
                <a:solidFill>
                  <a:schemeClr val="tx1"/>
                </a:solidFill>
              </a:rPr>
              <a:t>العرض</a:t>
            </a:r>
            <a:endParaRPr lang="en-US" sz="2000" dirty="0"/>
          </a:p>
        </p:txBody>
      </p:sp>
      <p:sp>
        <p:nvSpPr>
          <p:cNvPr id="4" name="Text 2"/>
          <p:cNvSpPr txBox="1"/>
          <p:nvPr/>
        </p:nvSpPr>
        <p:spPr>
          <a:xfrm>
            <a:off x="457200" y="4069080"/>
            <a:ext cx="8229600" cy="594360"/>
          </a:xfrm>
          <a:prstGeom prst="rect">
            <a:avLst/>
          </a:prstGeom>
          <a:noFill/>
          <a:ln/>
        </p:spPr>
        <p:txBody>
          <a:bodyPr wrap="square" rtlCol="0" anchor="ctr"/>
          <a:lstStyle/>
          <a:p>
            <a:pPr rtl="1" algn="r" indent="0" marL="0">
              <a:buNone/>
            </a:pPr>
            <a:r>
              <a:rPr lang="en-US" sz="1200" i="1" dirty="0">
                <a:solidFill>
                  <a:srgbClr val="595959"/>
                </a:solidFill>
              </a:rPr>
              <a:t>المطلوب: حدّد القائمة ثم Accueil ثم Convertir en graphique SmartArt ثم اختر مخططاً من فئة Processus.</a:t>
            </a:r>
            <a:endParaRPr lang="en-US" sz="1200" dirty="0"/>
          </a:p>
        </p:txBody>
      </p:sp>
      <p:sp>
        <p:nvSpPr>
          <p:cNvPr id="25" name="Slide Number Placeholder 0"/>
          <p:cNvSpPr>
            <a:spLocks noGrp="1"/>
          </p:cNvSpPr>
          <p:nvPr>
            <p:ph type="sldNum" sz="quarter" idx="4294967295"/>
          </p:nvPr>
        </p:nvSpPr>
        <p:spPr>
          <a:xfrm>
            <a:off x="457200" y="47548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p>
            <a:pPr rtl="1" algn="r" indent="0" marL="0">
              <a:buNone/>
            </a:pPr>
            <a:r>
              <a:rPr lang="en-US" sz="3000" b="1" dirty="0">
                <a:solidFill>
                  <a:schemeClr val="tx2"/>
                </a:solidFill>
              </a:rPr>
              <a:t>تمرين الفصل 7: من جدول إلى رسم بياني</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0" y="1188720"/>
          <a:ext cx="4114800" cy="914400"/>
        </p:xfrm>
        <a:graphic>
          <a:graphicData uri="http://schemas.openxmlformats.org/drawingml/2006/table">
            <a:tbl>
              <a:tblPr/>
              <a:tblGrid>
                <a:gridCol w="2057400"/>
                <a:gridCol w="2057400"/>
              </a:tblGrid>
              <a:tr h="457200">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المبيعات</a:t>
                      </a:r>
                      <a:endParaRPr lang="en-US" sz="1400" dirty="0">
                        <a:latin typeface="Arial" charset="0"/>
                        <a:ea typeface="Arial" charset="0"/>
                        <a:cs typeface="Arial"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A1A0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الثلاثي</a:t>
                      </a:r>
                      <a:endParaRPr lang="en-US" sz="1400" dirty="0">
                        <a:latin typeface="Arial" charset="0"/>
                        <a:ea typeface="Arial" charset="0"/>
                        <a:cs typeface="Arial"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A1A0A"/>
                    </a:solidFill>
                  </a:tcPr>
                </a:tc>
              </a:tr>
              <a:tr h="457200">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120</a:t>
                      </a:r>
                      <a:endParaRPr lang="en-US" sz="1400" dirty="0">
                        <a:latin typeface="Arial" charset="0"/>
                        <a:ea typeface="Arial" charset="0"/>
                        <a:cs typeface="Arial"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الثلاثي 1</a:t>
                      </a:r>
                      <a:endParaRPr lang="en-US" sz="1400" dirty="0">
                        <a:latin typeface="Arial" charset="0"/>
                        <a:ea typeface="Arial" charset="0"/>
                        <a:cs typeface="Arial"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150</a:t>
                      </a:r>
                      <a:endParaRPr lang="en-US" sz="1400" dirty="0">
                        <a:latin typeface="Arial" charset="0"/>
                        <a:ea typeface="Arial" charset="0"/>
                        <a:cs typeface="Arial"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الثلاثي 2</a:t>
                      </a:r>
                      <a:endParaRPr lang="en-US" sz="1400" dirty="0">
                        <a:latin typeface="Arial" charset="0"/>
                        <a:ea typeface="Arial" charset="0"/>
                        <a:cs typeface="Arial"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135</a:t>
                      </a:r>
                      <a:endParaRPr lang="en-US" sz="1400" dirty="0">
                        <a:latin typeface="Arial" charset="0"/>
                        <a:ea typeface="Arial" charset="0"/>
                        <a:cs typeface="Arial"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الثلاثي 3</a:t>
                      </a:r>
                      <a:endParaRPr lang="en-US" sz="1400" dirty="0">
                        <a:latin typeface="Arial" charset="0"/>
                        <a:ea typeface="Arial" charset="0"/>
                        <a:cs typeface="Arial"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190</a:t>
                      </a:r>
                      <a:endParaRPr lang="en-US" sz="1400" dirty="0">
                        <a:latin typeface="Arial" charset="0"/>
                        <a:ea typeface="Arial" charset="0"/>
                        <a:cs typeface="Arial"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الثلاثي 4</a:t>
                      </a:r>
                      <a:endParaRPr lang="en-US" sz="1400" dirty="0">
                        <a:latin typeface="Arial" charset="0"/>
                        <a:ea typeface="Arial" charset="0"/>
                        <a:cs typeface="Arial"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4069080"/>
            <a:ext cx="8229600" cy="594360"/>
          </a:xfrm>
          <a:prstGeom prst="rect">
            <a:avLst/>
          </a:prstGeom>
          <a:noFill/>
          <a:ln/>
        </p:spPr>
        <p:txBody>
          <a:bodyPr wrap="square" rtlCol="0" anchor="ctr"/>
          <a:lstStyle/>
          <a:p>
            <a:pPr rtl="1" algn="r" indent="0" marL="0">
              <a:buNone/>
            </a:pPr>
            <a:r>
              <a:rPr lang="en-US" sz="1200" i="1" dirty="0">
                <a:solidFill>
                  <a:srgbClr val="595959"/>
                </a:solidFill>
              </a:rPr>
              <a:t>المطلوب: Insertion ثم Graphique ثم Histogramme groupé، وانسخ الأرقام في نافذة Excel، ثم أضف Étiquettes de données. أعلى عمود: الثلاثي 4 (190).</a:t>
            </a:r>
            <a:endParaRPr lang="en-US" sz="1200" dirty="0"/>
          </a:p>
        </p:txBody>
      </p:sp>
      <p:sp>
        <p:nvSpPr>
          <p:cNvPr id="25" name="Slide Number Placeholder 0"/>
          <p:cNvSpPr>
            <a:spLocks noGrp="1"/>
          </p:cNvSpPr>
          <p:nvPr>
            <p:ph type="sldNum" sz="quarter" idx="4294967295"/>
          </p:nvPr>
        </p:nvSpPr>
        <p:spPr>
          <a:xfrm>
            <a:off x="457200" y="47548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p>
            <a:pPr rtl="1" algn="r" indent="0" marL="0">
              <a:buNone/>
            </a:pPr>
            <a:r>
              <a:rPr lang="en-US" sz="3000" b="1" dirty="0">
                <a:solidFill>
                  <a:schemeClr val="tx2"/>
                </a:solidFill>
              </a:rPr>
              <a:t>النتائج</a:t>
            </a:r>
            <a:endParaRPr lang="en-US" sz="3000" dirty="0"/>
          </a:p>
        </p:txBody>
      </p:sp>
      <p:sp>
        <p:nvSpPr>
          <p:cNvPr id="3" name="Text 1"/>
          <p:cNvSpPr txBox="1"/>
          <p:nvPr/>
        </p:nvSpPr>
        <p:spPr>
          <a:xfrm>
            <a:off x="457200" y="1097280"/>
            <a:ext cx="5120640" cy="1828800"/>
          </a:xfrm>
          <a:prstGeom prst="rect">
            <a:avLst/>
          </a:prstGeom>
          <a:noFill/>
          <a:ln/>
        </p:spPr>
        <p:txBody>
          <a:bodyPr wrap="square" rtlCol="0" anchor="ctr"/>
          <a:lstStyle/>
          <a:p>
            <a:pPr rtl="1" algn="r" indent="0" marL="0">
              <a:buNone/>
            </a:pPr>
            <a:r>
              <a:rPr lang="en-US" sz="1200" dirty="0">
                <a:solidFill>
                  <a:srgbClr val="8C8C8C"/>
                </a:solidFill>
              </a:rPr>
              <a:t>خلال هذه السنة حققت الشركة نتائج جيدة جدا حيث ارتفعت المبيعات بنسبة 25 بالمائة مقارنة بالسنة الماضية كما تحسن رضا الزبائن وتم فتح فرعين جديدين في مدينتين مختلفتين وانضم إلى الفريق موظفون جدد في قسم المبيعات والتسويق.</a:t>
            </a:r>
            <a:endParaRPr lang="en-US" sz="1200" dirty="0"/>
          </a:p>
        </p:txBody>
      </p:sp>
      <p:sp>
        <p:nvSpPr>
          <p:cNvPr id="4" name="Shape 2"/>
          <p:cNvSpPr/>
          <p:nvPr/>
        </p:nvSpPr>
        <p:spPr>
          <a:xfrm>
            <a:off x="5852160" y="1188720"/>
            <a:ext cx="1280160" cy="914400"/>
          </a:xfrm>
          <a:prstGeom prst="rect">
            <a:avLst/>
          </a:prstGeom>
          <a:solidFill>
            <a:srgbClr val="7030A0"/>
          </a:solidFill>
          <a:ln w="12700">
            <a:solidFill>
              <a:srgbClr val="7030A0"/>
            </a:solidFill>
            <a:prstDash val="solid"/>
          </a:ln>
        </p:spPr>
      </p:sp>
      <p:sp>
        <p:nvSpPr>
          <p:cNvPr id="5" name="Shape 3"/>
          <p:cNvSpPr/>
          <p:nvPr/>
        </p:nvSpPr>
        <p:spPr>
          <a:xfrm>
            <a:off x="7406640" y="1920240"/>
            <a:ext cx="1097280" cy="1097280"/>
          </a:xfrm>
          <a:prstGeom prst="ellipse">
            <a:avLst/>
          </a:prstGeom>
          <a:solidFill>
            <a:srgbClr val="00B050"/>
          </a:solidFill>
          <a:ln w="12700">
            <a:solidFill>
              <a:srgbClr val="00B050"/>
            </a:solidFill>
            <a:prstDash val="solid"/>
          </a:ln>
        </p:spPr>
      </p:sp>
      <p:sp>
        <p:nvSpPr>
          <p:cNvPr id="6" name="Shape 4"/>
          <p:cNvSpPr/>
          <p:nvPr/>
        </p:nvSpPr>
        <p:spPr>
          <a:xfrm>
            <a:off x="6309360" y="2743200"/>
            <a:ext cx="822960" cy="822960"/>
          </a:xfrm>
          <a:prstGeom prst="rect">
            <a:avLst/>
          </a:prstGeom>
          <a:solidFill>
            <a:srgbClr val="FFC000"/>
          </a:solidFill>
          <a:ln w="12700">
            <a:solidFill>
              <a:srgbClr val="FFC000"/>
            </a:solidFill>
            <a:prstDash val="solid"/>
          </a:ln>
        </p:spPr>
      </p:sp>
      <p:sp>
        <p:nvSpPr>
          <p:cNvPr id="7" name="Text 5"/>
          <p:cNvSpPr txBox="1"/>
          <p:nvPr/>
        </p:nvSpPr>
        <p:spPr>
          <a:xfrm>
            <a:off x="914400" y="3017520"/>
            <a:ext cx="1463040" cy="548640"/>
          </a:xfrm>
          <a:prstGeom prst="rect">
            <a:avLst/>
          </a:prstGeom>
          <a:noFill/>
          <a:ln/>
        </p:spPr>
        <p:txBody>
          <a:bodyPr wrap="square" rtlCol="0" anchor="ctr"/>
          <a:lstStyle/>
          <a:p>
            <a:pPr indent="0" marL="0">
              <a:buNone/>
            </a:pPr>
            <a:r>
              <a:rPr lang="en-US" sz="1400" dirty="0">
                <a:solidFill>
                  <a:srgbClr val="FF0000"/>
                </a:solidFill>
              </a:rPr>
              <a:t>+25 %</a:t>
            </a:r>
            <a:endParaRPr lang="en-US" sz="1400" dirty="0"/>
          </a:p>
        </p:txBody>
      </p:sp>
      <p:sp>
        <p:nvSpPr>
          <p:cNvPr id="8" name="Text 6"/>
          <p:cNvSpPr txBox="1"/>
          <p:nvPr/>
        </p:nvSpPr>
        <p:spPr>
          <a:xfrm>
            <a:off x="457200" y="4069080"/>
            <a:ext cx="8229600" cy="594360"/>
          </a:xfrm>
          <a:prstGeom prst="rect">
            <a:avLst/>
          </a:prstGeom>
          <a:noFill/>
          <a:ln/>
        </p:spPr>
        <p:txBody>
          <a:bodyPr wrap="square" rtlCol="0" anchor="ctr"/>
          <a:lstStyle/>
          <a:p>
            <a:pPr rtl="1" algn="r" indent="0" marL="0">
              <a:buNone/>
            </a:pPr>
            <a:r>
              <a:rPr lang="en-US" sz="1200" i="1" dirty="0">
                <a:solidFill>
                  <a:srgbClr val="595959"/>
                </a:solidFill>
              </a:rPr>
              <a:t>المطلوب: حسن هذه الشريحة بقواعد الفصل 9: عنوان يقول الرسالة، ورقم كبير، وثلاث بطاقات محاذية، ولا نص أصغر من 18.</a:t>
            </a:r>
            <a:endParaRPr lang="en-US" sz="1200" dirty="0"/>
          </a:p>
        </p:txBody>
      </p:sp>
      <p:sp>
        <p:nvSpPr>
          <p:cNvPr id="25" name="Slide Number Placeholder 0"/>
          <p:cNvSpPr>
            <a:spLocks noGrp="1"/>
          </p:cNvSpPr>
          <p:nvPr>
            <p:ph type="sldNum" sz="quarter" idx="4294967295"/>
          </p:nvPr>
        </p:nvSpPr>
        <p:spPr>
          <a:xfrm>
            <a:off x="457200" y="47548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p>
            <a:pPr rtl="1" algn="r" indent="0" marL="0">
              <a:buNone/>
            </a:pPr>
            <a:r>
              <a:rPr lang="en-US" sz="3000" b="1" dirty="0">
                <a:solidFill>
                  <a:schemeClr val="tx2"/>
                </a:solidFill>
              </a:rPr>
              <a:t>تمرين الفصلين 10 و11: الانتقال والحركة</a:t>
            </a:r>
            <a:endParaRPr lang="en-US" sz="3000" dirty="0"/>
          </a:p>
        </p:txBody>
      </p:sp>
      <p:sp>
        <p:nvSpPr>
          <p:cNvPr id="3" name="carte"/>
          <p:cNvSpPr/>
          <p:nvPr/>
        </p:nvSpPr>
        <p:spPr>
          <a:xfrm>
            <a:off x="6035040" y="1188720"/>
            <a:ext cx="2651760" cy="2377440"/>
          </a:xfrm>
          <a:prstGeom prst="roundRect">
            <a:avLst>
              <a:gd name="adj" fmla="val 4615"/>
            </a:avLst>
          </a:prstGeom>
          <a:solidFill>
            <a:schemeClr val="bg2"/>
          </a:solidFill>
          <a:ln w="12700">
            <a:solidFill>
              <a:schemeClr val="bg2"/>
            </a:solidFill>
            <a:prstDash val="solid"/>
          </a:ln>
        </p:spPr>
      </p:sp>
      <p:sp>
        <p:nvSpPr>
          <p:cNvPr id="4" name="Text 2"/>
          <p:cNvSpPr txBox="1"/>
          <p:nvPr/>
        </p:nvSpPr>
        <p:spPr>
          <a:xfrm>
            <a:off x="8001000" y="1371600"/>
            <a:ext cx="502920" cy="502920"/>
          </a:xfrm>
          <a:prstGeom prst="ellipse">
            <a:avLst/>
          </a:prstGeom>
          <a:solidFill>
            <a:schemeClr val="accent1"/>
          </a:solidFill>
          <a:ln/>
        </p:spPr>
        <p:txBody>
          <a:bodyPr wrap="square"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6217920" y="1965960"/>
            <a:ext cx="2286000" cy="411480"/>
          </a:xfrm>
          <a:prstGeom prst="rect">
            <a:avLst/>
          </a:prstGeom>
          <a:noFill/>
          <a:ln/>
        </p:spPr>
        <p:txBody>
          <a:bodyPr wrap="square" rtlCol="0" anchor="ctr"/>
          <a:lstStyle/>
          <a:p>
            <a:pPr rtl="1" algn="r" indent="0" marL="0">
              <a:buNone/>
            </a:pPr>
            <a:r>
              <a:rPr lang="en-US" sz="1600" b="1" dirty="0">
                <a:solidFill>
                  <a:schemeClr val="tx2"/>
                </a:solidFill>
              </a:rPr>
              <a:t>أولاً</a:t>
            </a:r>
            <a:endParaRPr lang="en-US" sz="1600" dirty="0"/>
          </a:p>
        </p:txBody>
      </p:sp>
      <p:sp>
        <p:nvSpPr>
          <p:cNvPr id="6" name="carte"/>
          <p:cNvSpPr/>
          <p:nvPr/>
        </p:nvSpPr>
        <p:spPr>
          <a:xfrm>
            <a:off x="3246120" y="1188720"/>
            <a:ext cx="2651760" cy="2377440"/>
          </a:xfrm>
          <a:prstGeom prst="roundRect">
            <a:avLst>
              <a:gd name="adj" fmla="val 4615"/>
            </a:avLst>
          </a:prstGeom>
          <a:solidFill>
            <a:schemeClr val="bg2"/>
          </a:solidFill>
          <a:ln w="12700">
            <a:solidFill>
              <a:schemeClr val="bg2"/>
            </a:solidFill>
            <a:prstDash val="solid"/>
          </a:ln>
        </p:spPr>
      </p:sp>
      <p:sp>
        <p:nvSpPr>
          <p:cNvPr id="7" name="Text 5"/>
          <p:cNvSpPr txBox="1"/>
          <p:nvPr/>
        </p:nvSpPr>
        <p:spPr>
          <a:xfrm>
            <a:off x="5212080" y="1371600"/>
            <a:ext cx="502920" cy="502920"/>
          </a:xfrm>
          <a:prstGeom prst="ellipse">
            <a:avLst/>
          </a:prstGeom>
          <a:solidFill>
            <a:schemeClr val="accent1"/>
          </a:solidFill>
          <a:ln/>
        </p:spPr>
        <p:txBody>
          <a:bodyPr wrap="square" rtlCol="0" anchor="ctr"/>
          <a:lstStyle/>
          <a:p>
            <a:pPr algn="ctr" indent="0" marL="0">
              <a:buNone/>
            </a:pPr>
            <a:r>
              <a:rPr lang="en-US" sz="1800" b="1" dirty="0">
                <a:solidFill>
                  <a:schemeClr val="bg1"/>
                </a:solidFill>
              </a:rPr>
              <a:t>2</a:t>
            </a:r>
            <a:endParaRPr lang="en-US" sz="1800" dirty="0"/>
          </a:p>
        </p:txBody>
      </p:sp>
      <p:sp>
        <p:nvSpPr>
          <p:cNvPr id="8" name="Text 6"/>
          <p:cNvSpPr txBox="1"/>
          <p:nvPr/>
        </p:nvSpPr>
        <p:spPr>
          <a:xfrm>
            <a:off x="3429000" y="1965960"/>
            <a:ext cx="2286000" cy="411480"/>
          </a:xfrm>
          <a:prstGeom prst="rect">
            <a:avLst/>
          </a:prstGeom>
          <a:noFill/>
          <a:ln/>
        </p:spPr>
        <p:txBody>
          <a:bodyPr wrap="square" rtlCol="0" anchor="ctr"/>
          <a:lstStyle/>
          <a:p>
            <a:pPr rtl="1" algn="r" indent="0" marL="0">
              <a:buNone/>
            </a:pPr>
            <a:r>
              <a:rPr lang="en-US" sz="1600" b="1" dirty="0">
                <a:solidFill>
                  <a:schemeClr val="tx2"/>
                </a:solidFill>
              </a:rPr>
              <a:t>ثانياً</a:t>
            </a:r>
            <a:endParaRPr lang="en-US" sz="1600" dirty="0"/>
          </a:p>
        </p:txBody>
      </p:sp>
      <p:sp>
        <p:nvSpPr>
          <p:cNvPr id="9" name="carte"/>
          <p:cNvSpPr/>
          <p:nvPr/>
        </p:nvSpPr>
        <p:spPr>
          <a:xfrm>
            <a:off x="457200" y="1188720"/>
            <a:ext cx="2651760" cy="2377440"/>
          </a:xfrm>
          <a:prstGeom prst="roundRect">
            <a:avLst>
              <a:gd name="adj" fmla="val 4615"/>
            </a:avLst>
          </a:prstGeom>
          <a:solidFill>
            <a:schemeClr val="bg2"/>
          </a:solidFill>
          <a:ln w="12700">
            <a:solidFill>
              <a:schemeClr val="bg2"/>
            </a:solidFill>
            <a:prstDash val="solid"/>
          </a:ln>
        </p:spPr>
      </p:sp>
      <p:sp>
        <p:nvSpPr>
          <p:cNvPr id="10" name="Text 8"/>
          <p:cNvSpPr txBox="1"/>
          <p:nvPr/>
        </p:nvSpPr>
        <p:spPr>
          <a:xfrm>
            <a:off x="2423160" y="1371600"/>
            <a:ext cx="502920" cy="502920"/>
          </a:xfrm>
          <a:prstGeom prst="ellipse">
            <a:avLst/>
          </a:prstGeom>
          <a:solidFill>
            <a:schemeClr val="accent1"/>
          </a:solidFill>
          <a:ln/>
        </p:spPr>
        <p:txBody>
          <a:bodyPr wrap="square" rtlCol="0" anchor="ctr"/>
          <a:lstStyle/>
          <a:p>
            <a:pPr algn="ctr" indent="0" marL="0">
              <a:buNone/>
            </a:pPr>
            <a:r>
              <a:rPr lang="en-US" sz="1800" b="1" dirty="0">
                <a:solidFill>
                  <a:schemeClr val="bg1"/>
                </a:solidFill>
              </a:rPr>
              <a:t>3</a:t>
            </a:r>
            <a:endParaRPr lang="en-US" sz="1800" dirty="0"/>
          </a:p>
        </p:txBody>
      </p:sp>
      <p:sp>
        <p:nvSpPr>
          <p:cNvPr id="11" name="Text 9"/>
          <p:cNvSpPr txBox="1"/>
          <p:nvPr/>
        </p:nvSpPr>
        <p:spPr>
          <a:xfrm>
            <a:off x="640080" y="1965960"/>
            <a:ext cx="2286000" cy="411480"/>
          </a:xfrm>
          <a:prstGeom prst="rect">
            <a:avLst/>
          </a:prstGeom>
          <a:noFill/>
          <a:ln/>
        </p:spPr>
        <p:txBody>
          <a:bodyPr wrap="square" rtlCol="0" anchor="ctr"/>
          <a:lstStyle/>
          <a:p>
            <a:pPr rtl="1" algn="r" indent="0" marL="0">
              <a:buNone/>
            </a:pPr>
            <a:r>
              <a:rPr lang="en-US" sz="1600" b="1" dirty="0">
                <a:solidFill>
                  <a:schemeClr val="tx2"/>
                </a:solidFill>
              </a:rPr>
              <a:t>ثالثاً</a:t>
            </a:r>
            <a:endParaRPr lang="en-US" sz="1600" dirty="0"/>
          </a:p>
        </p:txBody>
      </p:sp>
      <p:sp>
        <p:nvSpPr>
          <p:cNvPr id="12" name="Text 10"/>
          <p:cNvSpPr txBox="1"/>
          <p:nvPr/>
        </p:nvSpPr>
        <p:spPr>
          <a:xfrm>
            <a:off x="457200" y="4069080"/>
            <a:ext cx="8229600" cy="594360"/>
          </a:xfrm>
          <a:prstGeom prst="rect">
            <a:avLst/>
          </a:prstGeom>
          <a:noFill/>
          <a:ln/>
        </p:spPr>
        <p:txBody>
          <a:bodyPr wrap="square" rtlCol="0" anchor="ctr"/>
          <a:lstStyle/>
          <a:p>
            <a:pPr rtl="1" algn="r" indent="0" marL="0">
              <a:buNone/>
            </a:pPr>
            <a:r>
              <a:rPr lang="en-US" sz="1200" i="1" dirty="0">
                <a:solidFill>
                  <a:srgbClr val="595959"/>
                </a:solidFill>
              </a:rPr>
              <a:t>المطلوب: أضف انتقالاً للشريحة، ثم اجعل البطاقات تظهر واحدة بعد الأخرى بالترتيب 1 ثم 2 ثم 3 (Volet Animation).</a:t>
            </a:r>
            <a:endParaRPr lang="en-US" sz="1200" dirty="0"/>
          </a:p>
        </p:txBody>
      </p:sp>
      <p:sp>
        <p:nvSpPr>
          <p:cNvPr id="25" name="Slide Number Placeholder 0"/>
          <p:cNvSpPr>
            <a:spLocks noGrp="1"/>
          </p:cNvSpPr>
          <p:nvPr>
            <p:ph type="sldNum" sz="quarter" idx="4294967295"/>
          </p:nvPr>
        </p:nvSpPr>
        <p:spPr>
          <a:xfrm>
            <a:off x="457200" y="47548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defRPr>
            </a:lvl1pPr>
          </a:lstStyle>
          <a:p>
            <a:pPr algn="l"/>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Nourix Exercices">
  <a:themeElements>
    <a:clrScheme name="Nourix Exercices">
      <a:dk1>
        <a:srgbClr val="1F1F1F"/>
      </a:dk1>
      <a:lt1>
        <a:srgbClr val="FFFFFF"/>
      </a:lt1>
      <a:dk2>
        <a:srgbClr val="5A1A0A"/>
      </a:dk2>
      <a:lt2>
        <a:srgbClr val="FBEFEA"/>
      </a:lt2>
      <a:accent1>
        <a:srgbClr val="C43E1C"/>
      </a:accent1>
      <a:accent2>
        <a:srgbClr val="D4A84B"/>
      </a:accent2>
      <a:accent3>
        <a:srgbClr val="2B579A"/>
      </a:accent3>
      <a:accent4>
        <a:srgbClr val="217346"/>
      </a:accent4>
      <a:accent5>
        <a:srgbClr val="7F7F7F"/>
      </a:accent5>
      <a:accent6>
        <a:srgbClr val="ED7D31"/>
      </a:accent6>
      <a:hlink>
        <a:srgbClr val="C43E1C"/>
      </a:hlink>
      <a:folHlink>
        <a:srgbClr val="D4A84B"/>
      </a:folHlink>
    </a:clrScheme>
    <a:fontScheme name="Nourix Exercice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Nourix Academy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Exercices-PowerPoint</dc:title>
  <dc:subject>PptxGenJS Presentation</dc:subject>
  <dc:creator>Nourix Academy</dc:creator>
  <cp:lastModifiedBy>Nourix Academy</cp:lastModifiedBy>
  <cp:revision>1</cp:revision>
  <dcterms:created xsi:type="dcterms:W3CDTF">2026-10-10T15:40:20Z</dcterms:created>
  <dcterms:modified xsi:type="dcterms:W3CDTF">2026-10-10T15:40:20Z</dcterms:modified>
</cp:coreProperties>
</file>