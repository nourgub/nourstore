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لخص" id="{2896c06e-85d6-5074-c1da-8e6d74e9afe7}">
          <p14:sldIdLst>
            <p14:sldId id="256"/>
            <p14:sldId id="257"/>
          </p14:sldIdLst>
        </p14:section>
        <p14:section name="التحليل" id="{3ca68466-8689-762b-5b9b-5789917dce30}">
          <p14:sldIdLst>
            <p14:sldId id="258"/>
            <p14:sldId id="259"/>
          </p14:sldIdLst>
        </p14:section>
        <p14:section name="القرارات" id="{b70f998c-7a9f-9608-c357-95dc1cf7042b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رقم الأعمال</c:v>
                </c:pt>
              </c:strCache>
            </c:strRef>
          </c:tx>
          <c:spPr>
            <a:solidFill>
              <a:srgbClr val="C43E1C"/>
            </a:solidFill>
            <a:ln w="38100" cap="flat">
              <a:solidFill>
                <a:srgbClr val="C43E1C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43E1C"/>
              </a:solidFill>
              <a:ln w="9525" cap="flat">
                <a:solidFill>
                  <a:srgbClr val="C43E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يناير</c:v>
                  </c:pt>
                  <c:pt idx="1">
                    <c:v>فبراير</c:v>
                  </c:pt>
                  <c:pt idx="2">
                    <c:v>مارس</c:v>
                  </c:pt>
                  <c:pt idx="3">
                    <c:v>أبريل</c:v>
                  </c:pt>
                  <c:pt idx="4">
                    <c:v>ماي</c:v>
                  </c:pt>
                  <c:pt idx="5">
                    <c:v>يونيو</c:v>
                  </c:pt>
                  <c:pt idx="6">
                    <c:v>يوليو</c:v>
                  </c:pt>
                  <c:pt idx="7">
                    <c:v>أوت</c:v>
                  </c:pt>
                  <c:pt idx="8">
                    <c:v>سبتمبر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1.67</c:v>
                </c:pt>
                <c:pt idx="1">
                  <c:v>2.73</c:v>
                </c:pt>
                <c:pt idx="2">
                  <c:v>2.18</c:v>
                </c:pt>
                <c:pt idx="3">
                  <c:v>3.77</c:v>
                </c:pt>
                <c:pt idx="4">
                  <c:v>1.56</c:v>
                </c:pt>
                <c:pt idx="5">
                  <c:v>1.5</c:v>
                </c:pt>
                <c:pt idx="6">
                  <c:v>1.84</c:v>
                </c:pt>
                <c:pt idx="7">
                  <c:v>3.53</c:v>
                </c:pt>
                <c:pt idx="8">
                  <c:v>1.96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المنطقة</c:v>
                </c:pt>
              </c:strCache>
            </c:strRef>
          </c:tx>
          <c:spPr>
            <a:solidFill>
              <a:srgbClr val="C43E1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الغرب</c:v>
                  </c:pt>
                  <c:pt idx="1">
                    <c:v>الشرق</c:v>
                  </c:pt>
                  <c:pt idx="2">
                    <c:v>الجنوب</c:v>
                  </c:pt>
                  <c:pt idx="3">
                    <c:v>الشمال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6.28</c:v>
                </c:pt>
                <c:pt idx="1">
                  <c:v>5.36</c:v>
                </c:pt>
                <c:pt idx="2">
                  <c:v>4.77</c:v>
                </c:pt>
                <c:pt idx="3">
                  <c:v>4.32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262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المشروع 3: تقرير المبيعات (بيانات ملف Excel، المشروع 5)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C43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المشروع 3: تقرير المبيعات (بيانات ملف Excel، المشروع 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حصيلة المبيعات: يناير إلى سبتمبر 2026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تقرير لمجلس الإدارة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الأرقام الرئيسية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76656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20,7 م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رقم الأعمال (دج)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150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عملية بيع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1 201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قطعة مباعة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146304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Fatima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2860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أفضل بائعة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i="1" dirty="0">
                <a:solidFill>
                  <a:srgbClr val="7F7F7F"/>
                </a:solidFill>
              </a:rPr>
              <a:t>المصدر: ملف Excel «Projet5-Tableau-de-bord-ventes» من كتاب Excel العملي. رقم الأعمال بالدينار (دج)، والبيانات خيالية.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رقم الأعمال حسب الشهر (مليون دج)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51560"/>
          <a:ext cx="82296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المناطق والبائعون</a:t>
            </a:r>
            <a:endParaRPr lang="en-US" sz="30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0" y="1097280"/>
          <a:ext cx="41148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404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رقم الأعمال (دج)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البائع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5 199 100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Fatima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4 551 500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3 050 400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Hamza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3 034 300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2 871 500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Salma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2 037 500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Youssef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ما الذي نقترحه؟</a:t>
            </a:r>
            <a:endParaRPr lang="en-US" sz="3000" dirty="0"/>
          </a:p>
        </p:txBody>
      </p:sp>
      <p:sp>
        <p:nvSpPr>
          <p:cNvPr id="3" name="carte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00100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دعم منطقة الشمال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أضعف المناطق: حملة ترويجية في الربع الأخير.</a:t>
            </a:r>
            <a:endParaRPr lang="en-US" sz="1400" dirty="0"/>
          </a:p>
        </p:txBody>
      </p:sp>
      <p:sp>
        <p:nvSpPr>
          <p:cNvPr id="7" name="carte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1208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التركيز على الحواسيب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أكثر من نصف رقم الأعمال يأتي منها.</a:t>
            </a:r>
            <a:endParaRPr lang="en-US" sz="1400" dirty="0"/>
          </a:p>
        </p:txBody>
      </p:sp>
      <p:sp>
        <p:nvSpPr>
          <p:cNvPr id="11" name="carte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41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3716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1965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تكريم أفضل بائعة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37744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ومشاركة طريقة عملها مع الفريق.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Bilan">
  <a:themeElements>
    <a:clrScheme name="Nourix Bilan">
      <a:dk1>
        <a:srgbClr val="1F1F1F"/>
      </a:dk1>
      <a:lt1>
        <a:srgbClr val="FFFFFF"/>
      </a:lt1>
      <a:dk2>
        <a:srgbClr val="262626"/>
      </a:dk2>
      <a:lt2>
        <a:srgbClr val="F7EDE8"/>
      </a:lt2>
      <a:accent1>
        <a:srgbClr val="C43E1C"/>
      </a:accent1>
      <a:accent2>
        <a:srgbClr val="D4A84B"/>
      </a:accent2>
      <a:accent3>
        <a:srgbClr val="7F7F7F"/>
      </a:accent3>
      <a:accent4>
        <a:srgbClr val="ED7D31"/>
      </a:accent4>
      <a:accent5>
        <a:srgbClr val="5B9BD5"/>
      </a:accent5>
      <a:accent6>
        <a:srgbClr val="70AD47"/>
      </a:accent6>
      <a:hlink>
        <a:srgbClr val="C43E1C"/>
      </a:hlink>
      <a:folHlink>
        <a:srgbClr val="D4A84B"/>
      </a:folHlink>
    </a:clrScheme>
    <a:fontScheme name="Nourix Bila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Projet3-Bilan-des-ventes</dc:title>
  <dc:subject>PptxGenJS Presentation</dc:subject>
  <dc:creator>Nourix Academy</dc:creator>
  <cp:lastModifiedBy>Nourix Academy</cp:lastModifiedBy>
  <cp:revision>1</cp:revision>
  <dcterms:created xsi:type="dcterms:W3CDTF">2026-10-05T17:51:59Z</dcterms:created>
  <dcterms:modified xsi:type="dcterms:W3CDTF">2026-10-05T17:51:59Z</dcterms:modified>
</cp:coreProperties>
</file>